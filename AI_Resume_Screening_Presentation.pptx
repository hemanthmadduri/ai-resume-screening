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Introduction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Intelligent AI Resume Screening and Candidate Ranking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Key System Highlights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Automated Resume Screening: Processes high volumes of applicant resumes against Job Descriptions in seconds.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Multi-Format Extraction: Extracts candidate details from PDF, DOCX, and TXT resumes automatically.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Local NLP Engine: Runs 100% locally with spaCy &amp; scikit-learn without costly external AI APIs.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Transparent Ranking: Scores candidates using weighted skills, experience, and education matching.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Explainable Decisions: Provides human-readable reasons explaining candidate strengths and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End-to-End System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286000"/>
            <a:ext cx="4663440" cy="6217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Step 1: Input Job Description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Recruiter selects or pastes Job Description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017520"/>
            <a:ext cx="4663440" cy="6217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Step 2: Bulk Resume Upload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Uploads multiple PDF / DOCX / TXT candidate resumes.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749039"/>
            <a:ext cx="4663440" cy="6217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9333EA"/>
                </a:solidFill>
                <a:latin typeface="Arial"/>
              </a:defRPr>
            </a:pPr>
            <a:r>
              <a:t>Step 3: NLP Extraction &amp; Cleaning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Extracts entities, skills, experience duration, and education.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480560"/>
            <a:ext cx="4663440" cy="6217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Step 4: Multi-Factor Scoring &amp; Ranking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Computes weighted qualification score (0-100%) and ranks.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212080"/>
            <a:ext cx="4663440" cy="6217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Step 5: Explainable Recruiter Review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Displays matched/missing skills, profile inspection, and export.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Background Knowledge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Core Technologies &amp; Concepts Powering the ATS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Key Theoretical Concepts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Natural Language Processing (NLP): Enables computers to understand and extract structured knowledge from unstructured resume text.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spaCy Named Entity Recognition: Identifies entities such as person names, contact information, organizations, and locations.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TF-IDF &amp; Cosine Similarity: Measures the contextual and lexical similarity score between resumes and Job Descriptions.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Canonical Skill Taxonomy: Normalizes synonyms and acronyms (e.g. ML = Machine Learning, k8s = Kubernetes).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Multi-Tier Document Parsers: Utilizes pdfplumber, python-docx, and regex to read diverse resume formats reliably.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spaCy (en_core_web_sm)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Industrial-strength NLP library used for POS tagging, lemmatization, and Named Entity Recognition.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Scikit-Learn (TF-IDF)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Computes term frequency-inverse document frequency vectors and cosine similarity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77639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Skill &amp; Alias Graph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Dictionary taxonomy connecting technical variations (React.js, React, ReactJS) to single canonical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977639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9333EA"/>
                </a:solidFill>
                <a:latin typeface="Arial"/>
              </a:defRPr>
            </a:pPr>
            <a:r>
              <a:t>Python &amp; Flask Backend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Lightweight, responsive web framework serving RESTful APIs and modern responsive ATS 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Limitations of Manual Resume Screening vs. Our AI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Challenges in Recruitment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Massive Volume: Recruiters receive hundreds of resumes per job posting, creating bottlenecks.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Time Constraints: Manual review takes only 6–7 seconds per resume, causing high error rates.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Human &amp; Demographic Bias: Unconscious bias affects candidate selection based on age, gender, or name.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Keyword Search Flaws: Basic keyword search misses qualified candidates using skill synonyms (e.g. PyTorch vs Torch).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Lack of Explainability: Existing AI hiring tools act as black boxes with no justification for rankings.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03520" y="1645920"/>
          <a:ext cx="6126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286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Manual Screening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Our AI Resume Screening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Screening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Several hours / days per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Instant (~2-5 seconds for 100+ resumes)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Skill Recognition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Strict exact-match keyword searching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Intelligent alias &amp; synonym graph matching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Bias &amp; Fairness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Prone to unconscious human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100% merit-based (Ignores demographics)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Scoring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Subjective and inconsistent ratings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Transparent weighted formula (Skills, Exp, Edu)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Decision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 explanations provided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Clear explainability (strengths &amp; missing gaps)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SECTION 04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Literature Survey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Analysis of Existing Approaches vs. Our Proposed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926080"/>
                <a:gridCol w="2956255"/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Techniques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Our Proposed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Keyword String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Regular expressions and literal string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Misses acronyms, abbreviations, and related technologies; rigid format constraints.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Dynamic skill graph mapping 100+ synonyms &amp; aliases (e.g. ML = Machine Learning).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Basic Vector Space Models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Word count and simple TF-IDF representations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Ignores qualification factors like experience duration, degree levels, and certifications.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Multi-factor weighted scoring (Skills 40%, Exp 25%, Edu 15%, Similarity 10%, Certs 10%).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Deep Learning / Black-Box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Complex neural networks (BERT / CNNs)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High computational overhead; cannot explain why a candidate was ranked high or rejected.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Explainable AI (XAI) bullet points showing exact matched skills and identified gaps.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Cloud / Paid AI API Platforms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Third-party commercial APIs (OpenAI / Claude)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High recurring subscription costs; serious candidate PII privacy &amp; data security concerns.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100% local execution using open-source spaCy &amp; scikit-learn on standard hardware.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SECTION 05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Scope and Objectives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Project Goals, Boundaries, and Transparent Scoring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Key Project Objectives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Multi-Format Document Ingestion: Accurately parse PDF, DOCX, and TXT resumes in bulk with resilient error handling.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Skill &amp; Experience Alignment: Extract technical skills and experience duration, comparing them against JD requirements.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Transparent Weighted Scoring: Implement an explainable scoring formula evaluating 5 core professional criteria.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Demographic Fairness: Ensure zero bias by completely ignoring age, gender, race, and personal attributes.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Interactive Recruiter Dashboard: Provide a modern web interface with search, filtering, shortlisting, and CSV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Configurable Scoring Formula (100%)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377440"/>
            <a:ext cx="466344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Technical Skills Match (Required + Preferred)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Weight Contribution: 40%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063240"/>
            <a:ext cx="466344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Relevant Work Experience Duration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Weight Contribution: 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749039"/>
            <a:ext cx="466344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Education Qualification Level</a:t>
            </a:r>
          </a:p>
          <a:p>
            <a:pPr>
              <a:defRPr sz="950" b="1">
                <a:solidFill>
                  <a:srgbClr val="9333EA"/>
                </a:solidFill>
                <a:latin typeface="Arial"/>
              </a:defRPr>
            </a:pPr>
            <a:r>
              <a:t>Weight Contribution: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434840"/>
            <a:ext cx="466344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Semantic JD Cosine Similarity (TF-IDF)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Weight Contribution: 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120640"/>
            <a:ext cx="466344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Certifications &amp; Verified Qualifications</a:t>
            </a:r>
          </a:p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Weight Contribution: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